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41586"/>
            <a:ext cx="6891319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Desigualdade Educacional no </a:t>
            </a:r>
            <a:r>
              <a:rPr lang="en-US" sz="33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Brasil:</a:t>
            </a:r>
            <a:r>
              <a:rPr lang="en-US" sz="33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33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Uma Análise do IDEB por Região </a:t>
            </a:r>
            <a:r>
              <a:rPr lang="en-US" sz="33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(2005–2021)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614863" y="3143250"/>
            <a:ext cx="410048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57B9D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Investigando disparidades significativas na qualidade da educação pública fundamental entre as regiões brasileiras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8625" y="3143250"/>
            <a:ext cx="857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285875" y="3143250"/>
            <a:ext cx="27039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Fundamentos de Programação Científica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3373636"/>
            <a:ext cx="857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85875" y="3373636"/>
            <a:ext cx="1530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INEP / Base dos Dados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3604022"/>
            <a:ext cx="857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85875" y="3604022"/>
            <a:ext cx="73402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2005–2021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Rede Pública Apresenta Disparidades Significativas no IDEB entre Regiões?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435894"/>
            <a:ext cx="8001000" cy="1875234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35894"/>
            <a:ext cx="42863" cy="187523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650206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Hipótese Central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7250" y="1985963"/>
            <a:ext cx="7429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rede pública de ensino fundamental apresenta disparidades significativas no IDEB entre as regiões brasileiras, com as regiões Sul e Sudeste consistentemente acima da média nacional e as regiões Norte e Nordeste abaixo dela ao longo das edições do índice (2005–2021).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3811191"/>
            <a:ext cx="6631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Justificativa do Estudo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4146947"/>
            <a:ext cx="6631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IDEB é o principal indicador de qualidade da educação básica no Brasil, combinando taxa de aprovação e desempenho no SAEB. Desigualdades históricas de investimento, infraestrutura e condições socioeconômicas entre regiões sugerem que os resultados educacionais também seriam desiguais.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Fontes de Dados e Abordagem Analítica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32284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Bases de Dados Utilizadas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503759"/>
            <a:ext cx="3857625" cy="22860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IDEB por município: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283.372 registros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818084"/>
            <a:ext cx="3857625" cy="22860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IDEB por UF: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2.673 registros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132409"/>
            <a:ext cx="3857625" cy="22860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IDEB Brasil (nacional):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126 registros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646759"/>
            <a:ext cx="3857625" cy="685800"/>
          </a:xfrm>
          <a:prstGeom prst="rect">
            <a:avLst/>
          </a:prstGeom>
          <a:solidFill>
            <a:srgbClr val="FFFFFF"/>
          </a:solidFill>
          <a:ln w="9144">
            <a:solidFill>
              <a:srgbClr val="457B9D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489472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1803797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2118122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4375" y="2789634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PERÍODO DE ANÁLISE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4375" y="3002161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2005–2021 (9 edições do IDEB)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3461147"/>
            <a:ext cx="3857625" cy="685800"/>
          </a:xfrm>
          <a:prstGeom prst="rect">
            <a:avLst/>
          </a:prstGeom>
          <a:solidFill>
            <a:srgbClr val="FFFFFF"/>
          </a:solidFill>
          <a:ln w="9144">
            <a:solidFill>
              <a:srgbClr val="457B9D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375" y="3604022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ESCOPO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4375" y="3816548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Rede pública, ensino fundamental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14875" y="1132284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Métodos Aplicados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14875" y="1503759"/>
            <a:ext cx="3857625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descritiva: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Cálculo de média, mediana e desvio padrão segmentados por região geográfica.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14875" y="2139553"/>
            <a:ext cx="3857625" cy="12943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Visualizações de Dados: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14875" y="1489472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14875" y="2125266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4875" y="3612505"/>
            <a:ext cx="3857625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Correlação: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Avaliação da relação linear entre a taxa de aprovação e o desempenho no IDEB (r &gt; 0,85).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2439591"/>
            <a:ext cx="3714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- Evolução temporal comparativa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57750" y="2702458"/>
            <a:ext cx="3714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- Distribuição em quartis (Boxplots)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57750" y="2965326"/>
            <a:ext cx="3714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- Dispersão de variáveis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57750" y="3228194"/>
            <a:ext cx="3714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- Histogramas de densidade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14875" y="3598218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57750" y="2425303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57750" y="2688171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57750" y="2951038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57750" y="3213906"/>
            <a:ext cx="85725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7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Sul e Sudeste Mantêm Trajetória Consistentemente Acima da Média Nacional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435894"/>
            <a:ext cx="3167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Achados Principais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07369"/>
            <a:ext cx="316705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IDEB médio de 4,91 — maior desempenho entre todas as regiões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278856"/>
            <a:ext cx="316705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IDEB médio de 4,78 — segundo melhor desempenho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50344"/>
            <a:ext cx="316705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Centro-Oeste: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IDEB médio de 4,64 — próximo à média nacional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3221831"/>
            <a:ext cx="316705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IDEB médio de 4,17 — abaixo da média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500438"/>
            <a:ext cx="316705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IDEB médio de 3,80 — menor desempenho, mas com crescimento recente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4100513"/>
            <a:ext cx="3167053" cy="1076920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4100513"/>
            <a:ext cx="28575" cy="1076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1778794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2250281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" y="2721769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3193256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1500" y="3471863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4375" y="4243388"/>
            <a:ext cx="288130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TENDÊNCIA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4375" y="4455914"/>
            <a:ext cx="288130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Todas as regiões apresentam crescimento positivo, mas a distância entre Sul e Nordeste ultrapassa 1 ponto em diversas edições.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03" y="2095686"/>
            <a:ext cx="4548197" cy="1895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Variabilidade Intra-Regional Revela Desigualdades Internas Significativas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9409"/>
            <a:ext cx="4548169" cy="3000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5419" y="989409"/>
            <a:ext cx="3167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Interpretação da Distribuição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05419" y="1360884"/>
            <a:ext cx="3167081" cy="57864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Sul e Sudeste: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Distribuições mais concentradas acima da média, indicando maior homogeneidade de resultados.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405419" y="2010966"/>
            <a:ext cx="3167081" cy="38576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mais dispersa com maior variabilidade entre os municípios.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05419" y="2468166"/>
            <a:ext cx="3167081" cy="38576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com outliers significativos, refletindo forte heterogeneidade municipal.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405419" y="2925366"/>
            <a:ext cx="3167081" cy="38576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Centro-Oeste: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intermediária com alguns municípios de alto desempenho.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05419" y="3823692"/>
            <a:ext cx="3167081" cy="1176933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405419" y="3823692"/>
            <a:ext cx="28575" cy="1176933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2" name="Text 8"/>
          <p:cNvSpPr/>
          <p:nvPr/>
        </p:nvSpPr>
        <p:spPr>
          <a:xfrm>
            <a:off x="5405419" y="138945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405419" y="203954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5405419" y="249674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5405419" y="295394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519719" y="3937992"/>
            <a:ext cx="29384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Implicação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19719" y="4200525"/>
            <a:ext cx="2938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Além das disparidades regionais, existem desigualdades significativas dentro de cada região, sugerindo que fatores locais (infraestrutura, gestão, recursos) influenciam fortemente o IDEB.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45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Disciplinas Mostram Padrão Consistente: Matemática Levemente Inferior ao Longo das Regiões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305855"/>
            <a:ext cx="4643438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457B9D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377293"/>
            <a:ext cx="4500563" cy="30718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05419" y="1305855"/>
            <a:ext cx="3167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Resultados (2021)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05419" y="1677330"/>
            <a:ext cx="3167081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Sul: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Matemática 243, Língua Portuguesa 239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05419" y="1955936"/>
            <a:ext cx="3167081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Matemática 235, Língua Portuguesa 232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405419" y="2234543"/>
            <a:ext cx="3167081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Centro-Oeste: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Matemática 233, Língua Portuguesa 231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05419" y="2706030"/>
            <a:ext cx="3167081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Matemática 222, Língua Portuguesa 221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05419" y="2984636"/>
            <a:ext cx="3167081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Nordeste: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Matemática 220, Língua Portuguesa 218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05419" y="3741874"/>
            <a:ext cx="3167081" cy="1512689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405419" y="3741874"/>
            <a:ext cx="28575" cy="1512689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0"/>
          <p:cNvSpPr/>
          <p:nvPr/>
        </p:nvSpPr>
        <p:spPr>
          <a:xfrm>
            <a:off x="5405419" y="1648755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05419" y="1927361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05419" y="2205968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05419" y="2677455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05419" y="2956061"/>
            <a:ext cx="85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548294" y="3884749"/>
            <a:ext cx="28813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Observação Chave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548294" y="4147282"/>
            <a:ext cx="28813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diferença entre Sul/Sudeste e Norte/Nordeste é de aproximadamente 20–30 pontos em ambas as disciplinas, confirmando que a desigualdade regional é sistemática em todas as áreas do conhecimento avaliadas.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Forte Relação entre Aprovação Escolar e Qualidade Educacional (r &gt; 0,85)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03697"/>
            <a:ext cx="4595803" cy="3000375"/>
          </a:xfrm>
          <a:prstGeom prst="rect">
            <a:avLst/>
          </a:prstGeom>
          <a:solidFill>
            <a:srgbClr val="FFFFFF"/>
          </a:solidFill>
          <a:ln w="9144">
            <a:solidFill>
              <a:srgbClr val="457B9D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955"/>
            <a:ext cx="4452928" cy="2473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8753" y="1003697"/>
            <a:ext cx="3233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Achados Principais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338753" y="1318022"/>
            <a:ext cx="3233747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Existe </a:t>
            </a: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correlação positiva forte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entre taxa de aprovação e IDEB por município.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338753" y="1775222"/>
            <a:ext cx="3233747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Municípios com taxa de aprovação próxima a 100% tendem a ter </a:t>
            </a: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IDEB entre 8 e 9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338753" y="2232422"/>
            <a:ext cx="3233747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Municípios com taxa de aprovação entre 60–80% apresentam </a:t>
            </a: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IDEB entre 3 e 5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338753" y="2689622"/>
            <a:ext cx="3233747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Padrão Regional: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Sul e Sudeste concentram-se nas faixas superiores (aprovação &gt; 90%, IDEB &gt; 7).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38753" y="3146822"/>
            <a:ext cx="3233747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Padrão Regional:</a:t>
            </a:r>
            <a:r>
              <a:rPr lang="en-US" sz="9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Norte e Nordeste concentram-se nas faixas inferiores (aprovação &lt; 85%, IDEB &lt; 5).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338753" y="3923705"/>
            <a:ext cx="3233747" cy="1219795"/>
          </a:xfrm>
          <a:prstGeom prst="rect">
            <a:avLst/>
          </a:prstGeom>
          <a:solidFill>
            <a:srgbClr val="457B9D">
              <a:alpha val="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338753" y="3923705"/>
            <a:ext cx="3233747" cy="28575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0"/>
          <p:cNvSpPr/>
          <p:nvPr/>
        </p:nvSpPr>
        <p:spPr>
          <a:xfrm>
            <a:off x="5338753" y="1332309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338753" y="1789509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338753" y="2246709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338753" y="2703909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338753" y="3161109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639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424478" y="4038005"/>
            <a:ext cx="306229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Implicação Estratégica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24478" y="4286250"/>
            <a:ext cx="306229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retenção escolar é um fator determinante do IDEB, sugerindo que políticas de redução da reprovação têm potencial significativo para melhorar o índice.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Padrões Distribucionais Revelam Concentração de Qualidade nas Regiões Mais Desenvolvidas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50" y="1221581"/>
            <a:ext cx="5996899" cy="1714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150394"/>
            <a:ext cx="392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Distribuições Observadas (2021)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3486150"/>
            <a:ext cx="392906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 (μ=5,64):</a:t>
            </a:r>
            <a:r>
              <a:rPr lang="en-US" sz="8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concentrada em torno de 5,5–6,0, com cauda à esquerda.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71500" y="3886200"/>
            <a:ext cx="392906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Sudeste (μ=5,55):</a:t>
            </a:r>
            <a:r>
              <a:rPr lang="en-US" sz="8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similar ao Sul, levemente deslocada para a esquerda.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4286250"/>
            <a:ext cx="392906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Centro-Oeste (μ=5,28):</a:t>
            </a:r>
            <a:r>
              <a:rPr lang="en-US" sz="8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mais dispersa, com pico em torno de 5,0–5,5.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71500" y="4686300"/>
            <a:ext cx="392906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Nordeste (μ=4,78):</a:t>
            </a:r>
            <a:r>
              <a:rPr lang="en-US" sz="8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mais espalhada, com maior variabilidade.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1500" y="5086350"/>
            <a:ext cx="392906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Norte (μ=4,53):</a:t>
            </a:r>
            <a:r>
              <a:rPr lang="en-US" sz="8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Distribuição mais dispersa, com concentração em 4,0–5,0.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71500" y="3471863"/>
            <a:ext cx="71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1500" y="3871913"/>
            <a:ext cx="71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71500" y="4271963"/>
            <a:ext cx="71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71500" y="4672013"/>
            <a:ext cx="71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71500" y="5072063"/>
            <a:ext cx="71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43438" y="3150394"/>
            <a:ext cx="392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43438" y="3486150"/>
            <a:ext cx="3929063" cy="1571625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643438" y="3486150"/>
            <a:ext cx="28575" cy="1571625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9" name="Text 15"/>
          <p:cNvSpPr/>
          <p:nvPr/>
        </p:nvSpPr>
        <p:spPr>
          <a:xfrm>
            <a:off x="4786313" y="3629025"/>
            <a:ext cx="3643313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regiões </a:t>
            </a:r>
            <a:r>
              <a:rPr lang="en-US" sz="1000" b="1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Sul e Sudeste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apresentam maior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concentração de municípios com IDEB elevado,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formando um padrão mais homogêneo de qualidade.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contraste, </a:t>
            </a:r>
            <a:r>
              <a:rPr lang="en-US" sz="1000" b="1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Norte e Nordeste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mostram maior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dispersão e concentração em valores mais baixos,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evidenciando desafios estruturais mais amplos.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Hipótese Confirmada: Disparidades Regionais São Estatisticamente Consistentes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93006"/>
            <a:ext cx="8001000" cy="327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Resultados Principais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3892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754963"/>
            <a:ext cx="9376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Sul e Sudeste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21531" y="1754963"/>
            <a:ext cx="3568303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mantiveram IDEB médio acima da linha nacional em todos os anos (2005–2021).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1105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1531" y="2312175"/>
            <a:ext cx="11769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Norte e Nordeste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21531" y="2312175"/>
            <a:ext cx="3598664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ficaram sistematicamente abaixo da média nacional, embora tenham apresentado crescimento.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92630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531" y="3083700"/>
            <a:ext cx="9376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Centro-Oeste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821531" y="3083700"/>
            <a:ext cx="3545086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manteve-se próximo à média nacional, com variações anuais.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1763892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07756" y="1754963"/>
            <a:ext cx="12930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Diferença máxima: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907756" y="1754963"/>
            <a:ext cx="3468291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distância entre Sul e Nordeste ultrapassa 1 ponto em diversas edições do índice.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321105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07756" y="2312175"/>
            <a:ext cx="13090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Crescimento geral: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907756" y="2312175"/>
            <a:ext cx="3432572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Todas as regiões apresentaram evolução positiva ao longo do tempo, mas a desigualdade estrutural persiste.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571500" y="3935006"/>
            <a:ext cx="8001000" cy="1065619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571500" y="3935006"/>
            <a:ext cx="42863" cy="1065619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2" name="Text 14"/>
          <p:cNvSpPr/>
          <p:nvPr/>
        </p:nvSpPr>
        <p:spPr>
          <a:xfrm>
            <a:off x="785813" y="4063594"/>
            <a:ext cx="7572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Força da Evidência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85813" y="4343986"/>
            <a:ext cx="7572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correlação forte entre taxa de aprovação e IDEB (r &gt; 0,85) confirma que municípios com maior retenção escolar tendem a ter IDEB mais baixo, explicando parcialmente as disparidades regionais observadas.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Contexto Crítico: O Que os Dados Não Explicam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89447"/>
            <a:ext cx="228600" cy="2286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28944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7256" y="1289447"/>
            <a:ext cx="1521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Dados Incompletos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625203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Cerca de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dos municípios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não possuem IDEB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registrado devido a amostra insuficiente no SAEB. Essa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ausência não é aleatória e pode introduzir viés de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seleção, ocultando realidades de municípios menores ou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mais vulneráveis.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14875" y="1289447"/>
            <a:ext cx="228600" cy="2286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9" name="Text 6"/>
          <p:cNvSpPr/>
          <p:nvPr/>
        </p:nvSpPr>
        <p:spPr>
          <a:xfrm>
            <a:off x="4714875" y="128944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50631" y="1289447"/>
            <a:ext cx="145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Variáveis Ausentes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14875" y="1625203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Os dados do INEP analisados não incluem informações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sobre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 por aluno, infraestrutura escolar ou nível socioeconômico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das famílias — variáveis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fundamentais que ajudariam a explicar as causas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estruturais das diferenças.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1500" y="3473648"/>
            <a:ext cx="228600" cy="2286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47364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07256" y="3473648"/>
            <a:ext cx="1325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Escopo Limitado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3809405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IDEB captura apenas dois componentes (taxa de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aprovação e proficiência no SAEB). Outros aspectos 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cruciais da qualidade educacional — como </a:t>
            </a:r>
            <a:r>
              <a:rPr lang="en-US" sz="1050" dirty="0">
                <a:solidFill>
                  <a:srgbClr val="2125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abandono escolar, aprendizagem socioemocional e equidade de acesso</a:t>
            </a: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não estão refletidos no índice.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4875" y="3473648"/>
            <a:ext cx="228600" cy="2286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347364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50631" y="3473648"/>
            <a:ext cx="1621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Cobertura Temporal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14875" y="3809405"/>
            <a:ext cx="3857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tabela de municípios não possui todas as Unidades da Federação em todos os anos. Alguns estados só aparecem a partir de 2017 na amostra municipal, o que exige cautela ao interpretar tendências de longo prazo em granularidade local.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Caminhos para Compreender e Reduzir as Desigualdades Educacionais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32284"/>
            <a:ext cx="45184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Melhorias Futuras Propostas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539478"/>
            <a:ext cx="4518422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Cruzar com dados do Censo Escolar: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Incorporar variáveis de infraestrutura e número de professores por aluno para entender a capacidade de atendimento.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368153"/>
            <a:ext cx="4518422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Incluir dados socioeconômicos do IBGE: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Analisar o impacto do PIB per capita, IDH e taxa de pobreza municipal nos resultados educacionais.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3196828"/>
            <a:ext cx="4518422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Analisar separadamente por etapa: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Diferenciar os anos iniciais (1º–5º ano) e finais (6º–9º ano) do ensino fundamental para identificar gargalos específicos.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4025503"/>
            <a:ext cx="4518422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Aplicar modelos de regressão:</a:t>
            </a:r>
            <a:r>
              <a:rPr lang="en-US" sz="1050" dirty="0">
                <a:solidFill>
                  <a:srgbClr val="49505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Estimar a contribuição isolada de cada fator (retenção, infraestrutura, renda) no desempenho do IDEB.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1539478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2368153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" y="3196828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" y="4025503"/>
            <a:ext cx="142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7109" y="1132284"/>
            <a:ext cx="3125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Recomendações Políticas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7109" y="1539478"/>
            <a:ext cx="3125391" cy="2602111"/>
          </a:xfrm>
          <a:prstGeom prst="rect">
            <a:avLst/>
          </a:prstGeom>
          <a:solidFill>
            <a:srgbClr val="457B9D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447109" y="1539478"/>
            <a:ext cx="3125391" cy="28575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6" name="Text 13"/>
          <p:cNvSpPr/>
          <p:nvPr/>
        </p:nvSpPr>
        <p:spPr>
          <a:xfrm>
            <a:off x="5661422" y="1753791"/>
            <a:ext cx="26967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Foco Estratégico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1422" y="2069902"/>
            <a:ext cx="269676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 educacionais devem priorizar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investimentos direcionados em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infraestrutura, qualificação docente e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de redução da reprovação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 regiões </a:t>
            </a:r>
            <a:r>
              <a:rPr lang="en-US" sz="1000" b="1" dirty="0">
                <a:solidFill>
                  <a:srgbClr val="49505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Norte e Nordeste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onde as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disparidades em relação à média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nacional são mais acentuadas e </a:t>
            </a:r>
            <a:r>
              <a:rPr lang="en-US" sz="10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080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Disparidades Regionais Persistem, mas Tendências Positivas Indicam Progresso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435894"/>
            <a:ext cx="38219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Síntese dos Achados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1844873"/>
            <a:ext cx="382190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análise de 17 anos de dados do IDEB (2005–2021)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confirma que a rede pública de ensino fundamental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apresenta </a:t>
            </a:r>
            <a:r>
              <a:rPr lang="en-US" sz="1100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disparidades significativas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entre as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regiões brasileiras.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2993566"/>
            <a:ext cx="3821906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Sul e Sudeste mantêm desempenho consistentemente superior, enquanto Norte e Nordeste ficam abaixo da média nacional.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3890804"/>
            <a:ext cx="382190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 entanto, o crescimento geral em todas as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regiões e a </a:t>
            </a:r>
            <a:r>
              <a:rPr lang="en-US" sz="1100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redução gradual da distância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entre elas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— especialmente a partir de 2015 — sugerem que </a:t>
            </a:r>
            <a:r>
              <a:rPr lang="en-US" sz="1150" dirty="0">
                <a:solidFill>
                  <a:srgbClr val="21252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políticas educacionais têm surtido efeito positivo.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0594" y="1435894"/>
            <a:ext cx="3821906" cy="4272186"/>
          </a:xfrm>
          <a:prstGeom prst="rect">
            <a:avLst/>
          </a:prstGeom>
          <a:solidFill>
            <a:srgbClr val="457B9D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50594" y="1435894"/>
            <a:ext cx="42863" cy="427218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0" name="Text 7"/>
          <p:cNvSpPr/>
          <p:nvPr/>
        </p:nvSpPr>
        <p:spPr>
          <a:xfrm>
            <a:off x="5036344" y="1721644"/>
            <a:ext cx="3250406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MENSAGEM FINAL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36344" y="2130623"/>
            <a:ext cx="3250406" cy="329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desigualdade educacional é um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estrutural que requer ação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contínua, mas os dados indicam que o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progresso é possível.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Investimentos direcionados em regiões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desenvolvidas, combinados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políticas de redução da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reprovação e melhoria da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infraestrutura, podem acelerar a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convergência de qualidade </a:t>
            </a:r>
            <a:r>
              <a:rPr lang="en-US" sz="12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educacional entre as regiões do Brasil.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2026-06-16T18:51:43Z</dcterms:created>
  <dcterms:modified xsi:type="dcterms:W3CDTF">2026-06-16T18:51:43Z</dcterms:modified>
</cp:coreProperties>
</file>